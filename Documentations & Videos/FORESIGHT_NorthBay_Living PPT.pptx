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8" r:id="rId6"/>
    <p:sldId id="260" r:id="rId7"/>
    <p:sldId id="261" r:id="rId8"/>
    <p:sldId id="262" r:id="rId9"/>
    <p:sldId id="270" r:id="rId10"/>
    <p:sldId id="265" r:id="rId11"/>
    <p:sldId id="271" r:id="rId12"/>
    <p:sldId id="264" r:id="rId13"/>
    <p:sldId id="266" r:id="rId14"/>
    <p:sldId id="263" r:id="rId15"/>
    <p:sldId id="267" r:id="rId16"/>
    <p:sldId id="269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5" autoAdjust="0"/>
    <p:restoredTop sz="94610"/>
  </p:normalViewPr>
  <p:slideViewPr>
    <p:cSldViewPr snapToGrid="0" snapToObjects="1">
      <p:cViewPr>
        <p:scale>
          <a:sx n="63" d="100"/>
          <a:sy n="63" d="100"/>
        </p:scale>
        <p:origin x="72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2A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B1F2A"/>
                </a:solidFill>
                <a:latin typeface="Calibri"/>
              </a:rPr>
              <a:t>WAPE by Model (lower is better)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WAPE (%)</c:v>
                </c:pt>
              </c:strCache>
            </c:strRef>
          </c:tx>
          <c:spPr>
            <a:solidFill>
              <a:srgbClr val="3FA67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609-4C90-A27D-0EB2B9F39D9E}"/>
              </c:ext>
            </c:extLst>
          </c:dPt>
          <c:dPt>
            <c:idx val="1"/>
            <c:invertIfNegative val="0"/>
            <c:bubble3D val="0"/>
            <c:spPr>
              <a:solidFill>
                <a:srgbClr val="C94C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609-4C90-A27D-0EB2B9F39D9E}"/>
              </c:ext>
            </c:extLst>
          </c:dPt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B1F2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XGBoost</c:v>
                </c:pt>
                <c:pt idx="1">
                  <c:v>Baseline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20.149999999999999</c:v>
                </c:pt>
                <c:pt idx="1">
                  <c:v>86.48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609-4C90-A27D-0EB2B9F39D9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4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8737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DE346-217A-8E70-20DA-A860D090B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59E0FA-7655-677E-27FC-7BC8157E0A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9A1D39-0C61-391C-8C07-A3C4D03590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67A30B-0FFF-8767-AA3B-5202719648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9475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6AFDC-5E5D-B5CC-B080-268164D8A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8F5342-D451-F3FF-E8DF-013B4FAB98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D6A814-C514-6508-0246-FDD076B956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C069E4-D68E-97BF-6D14-9FEF798715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7569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224D0-F37E-A141-E0AF-2BADB2B44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0AD8D1-2CFC-FCF8-FCC4-F6847FAD79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98041B-4388-4F61-9C0F-191CF50896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5C8348-3D86-40BD-9F78-AD99F4A80B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6652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018CA-DE5D-6C62-4D49-09E5700FA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C652A2-D700-3CC1-5BBB-0AA756B0A3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00AA6B-2CF4-DB56-4516-9ADE35B5AF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93693E-B833-946C-8BAC-721716484D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5578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F31DF-9BF6-861C-5029-3C10F36D9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235A85-FA62-C894-36DA-76E84559FD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8C5FED-335E-D346-CEAA-E6C6CEAA16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9B76A5-8325-FD21-EA42-F4EA7CB443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9932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cgrymn/online-retail-ii-uci-dataset?utm_source=chatgpt.co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zidio-developmentproject-01foresight-demand-inventory-intellig.streamlit.app/" TargetMode="External"/><Relationship Id="rId2" Type="http://schemas.openxmlformats.org/officeDocument/2006/relationships/hyperlink" Target="https://github.com/DLS-Nadavi/Zidio-Development_Project-01_foresight-demand-inventory-intelligence.git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kaggle.com/datasets/cgrymn/online-retail-ii-uci-dataset?utm_source=chatgpt.com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92640" y="-548640"/>
            <a:ext cx="3291840" cy="32918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424160" y="182880"/>
            <a:ext cx="1828800" cy="1828800"/>
          </a:xfrm>
          <a:prstGeom prst="ellipse">
            <a:avLst/>
          </a:prstGeom>
          <a:solidFill>
            <a:srgbClr val="5FD1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5F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&amp; INVENTORY INTELLIGENCE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FORESIGHT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Demand Forecasting and Inventory Optimization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4526280"/>
            <a:ext cx="914400" cy="0"/>
          </a:xfrm>
          <a:prstGeom prst="line">
            <a:avLst/>
          </a:prstGeom>
          <a:noFill/>
          <a:ln w="31750">
            <a:solidFill>
              <a:srgbClr val="5FD1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4709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NorthBay Living</a:t>
            </a:r>
            <a:endParaRPr 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111B77-4273-B273-85A0-5F3356D783B7}"/>
              </a:ext>
            </a:extLst>
          </p:cNvPr>
          <p:cNvSpPr txBox="1"/>
          <p:nvPr/>
        </p:nvSpPr>
        <p:spPr>
          <a:xfrm>
            <a:off x="7517081" y="4709160"/>
            <a:ext cx="42038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Project by : - DLS Nadavi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Employee ID : - ZIDIOqAD8AD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Position :- Data Science &amp; Analytics Intern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Company :- Zidio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businesses face persistent inventory challenges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120640" cy="1600200"/>
          </a:xfrm>
          <a:prstGeom prst="roundRect">
            <a:avLst>
              <a:gd name="adj" fmla="val 6857"/>
            </a:avLst>
          </a:prstGeom>
          <a:solidFill>
            <a:srgbClr val="F4F7F9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" y="2194560"/>
            <a:ext cx="640080" cy="640080"/>
          </a:xfrm>
          <a:prstGeom prst="ellipse">
            <a:avLst/>
          </a:prstGeom>
          <a:solidFill>
            <a:srgbClr val="C94C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783080" y="214884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Stockouts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783080" y="2532888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SKUs run out, causing lost sales and disappointed customers.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874520"/>
            <a:ext cx="5120640" cy="1600200"/>
          </a:xfrm>
          <a:prstGeom prst="roundRect">
            <a:avLst>
              <a:gd name="adj" fmla="val 6857"/>
            </a:avLst>
          </a:prstGeom>
          <a:solidFill>
            <a:srgbClr val="F4F7F9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37960" y="21945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3796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360920" y="214884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Overstock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60920" y="2532888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inventory ties up working capital that could be used elsewhere.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794760"/>
            <a:ext cx="5120640" cy="1600200"/>
          </a:xfrm>
          <a:prstGeom prst="roundRect">
            <a:avLst>
              <a:gd name="adj" fmla="val 6857"/>
            </a:avLst>
          </a:prstGeom>
          <a:solidFill>
            <a:srgbClr val="F4F7F9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60120" y="41148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6012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783080" y="40690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Unpredictable Demand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783080" y="4453128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SKU-level demand is difficult to forecast, especially with seasonality.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3794760"/>
            <a:ext cx="5120640" cy="1600200"/>
          </a:xfrm>
          <a:prstGeom prst="roundRect">
            <a:avLst>
              <a:gd name="adj" fmla="val 6857"/>
            </a:avLst>
          </a:prstGeom>
          <a:solidFill>
            <a:srgbClr val="F4F7F9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537960" y="411480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3796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360920" y="40690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Decisions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360920" y="4453128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and clearance calls rely on gut feel rather than data.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571500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21295C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05840" y="571500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lost revenue on the shelf, cash locked in slow-moving stock, and decisions made on instinct instead of evidence.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pipeline from raw sales data to actionable insight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72288" y="233172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72288" y="24414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F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3728" y="274320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Sales Data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163928" y="27889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383384" y="233172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383384" y="24414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F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74824" y="274320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075024" y="27889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294480" y="233172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294480" y="24414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F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5920" y="274320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86120" y="27889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05576" y="233172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05576" y="24414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F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97016" y="274320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Demand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Model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897216" y="27889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116672" y="233172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21295C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116672" y="24414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F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08112" y="274320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Risk Engine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808312" y="27889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027768" y="233172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21295C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027768" y="24414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F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119208" y="274320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14400" y="42519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transactions are cleaned and enriched, then modeled with XGBoost to forecast demand; the risk engine flags stockouts and overstock, surfaced through a live dashboard.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Modeling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486400" cy="4709160"/>
          </a:xfrm>
          <a:prstGeom prst="roundRect">
            <a:avLst>
              <a:gd name="adj" fmla="val 2330"/>
            </a:avLst>
          </a:prstGeom>
          <a:solidFill>
            <a:srgbClr val="F4F7F9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05840" y="17830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91640" y="18013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used to train and evaluate the forecasting model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97280" y="3017520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25880" y="2898648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transaction records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325880" y="315468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Line-level sales history across stores and time periods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097280" y="3639312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25880" y="3520440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information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325880" y="377647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attributes, category, and product hierarchy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097280" y="4261104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325880" y="4142232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quantities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325880" y="4398264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 per SKU per period, the forecast target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97280" y="4882896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325880" y="4764024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325880" y="5020056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value used to size business impact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097280" y="5504688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325880" y="5385816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325880" y="5641848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and effective price, a key demand driver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0" y="1417320"/>
            <a:ext cx="5148072" cy="219456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766560" y="1783080"/>
            <a:ext cx="548640" cy="548640"/>
          </a:xfrm>
          <a:prstGeom prst="ellipse">
            <a:avLst/>
          </a:prstGeom>
          <a:solidFill>
            <a:srgbClr val="5FD1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76656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452360" y="180136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858000" y="2560320"/>
            <a:ext cx="4233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Regressor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858000" y="3108960"/>
            <a:ext cx="4233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 decision trees trained on engineered demand features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0" y="3886200"/>
            <a:ext cx="5148072" cy="2194560"/>
          </a:xfrm>
          <a:prstGeom prst="roundRect">
            <a:avLst>
              <a:gd name="adj" fmla="val 5000"/>
            </a:avLst>
          </a:prstGeom>
          <a:solidFill>
            <a:srgbClr val="21295C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766560" y="42519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76656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452360" y="427024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858000" y="5029200"/>
            <a:ext cx="4233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Naive Forecast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858000" y="5577840"/>
            <a:ext cx="4233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Repeats demand from the same period in the prior season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B8A4CD80-430E-EEEA-5CFF-14D819847E3E}"/>
              </a:ext>
            </a:extLst>
          </p:cNvPr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Modeling</a:t>
            </a:r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378CD4-7448-FB37-5F76-BE9681DB7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894" y="1406673"/>
            <a:ext cx="8767482" cy="39946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D49BAB-39FB-5B08-FFDF-DA2B06A678E6}"/>
              </a:ext>
            </a:extLst>
          </p:cNvPr>
          <p:cNvSpPr txBox="1"/>
          <p:nvPr/>
        </p:nvSpPr>
        <p:spPr>
          <a:xfrm>
            <a:off x="4159624" y="5791201"/>
            <a:ext cx="69207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Used Dataset - </a:t>
            </a:r>
            <a:r>
              <a:rPr lang="en-US" dirty="0">
                <a:hlinkClick r:id="rId3"/>
              </a:rPr>
              <a:t>https://www.kaggle.com/datasets/cgrymn/online-retail-ii-uci-dataset?utm_source=chatgpt.com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75184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sharply outperforms the seasonal naive baseline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5394960" cy="173736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FA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20.15%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FA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43.72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C94C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86.48%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C94C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157.14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3657600"/>
            <a:ext cx="53949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3"/>
          <p:cNvSpPr/>
          <p:nvPr/>
        </p:nvSpPr>
        <p:spPr>
          <a:xfrm>
            <a:off x="914400" y="36576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forecasting model improved accuracy significantly compared with the baseline.</a:t>
            </a:r>
            <a:endParaRPr lang="en-US" sz="13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6400800" y="1691640"/>
          <a:ext cx="51206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4"/>
          <p:cNvSpPr/>
          <p:nvPr/>
        </p:nvSpPr>
        <p:spPr>
          <a:xfrm>
            <a:off x="640080" y="5074920"/>
            <a:ext cx="10908792" cy="1051560"/>
          </a:xfrm>
          <a:prstGeom prst="roundRect">
            <a:avLst>
              <a:gd name="adj" fmla="val 8696"/>
            </a:avLst>
          </a:prstGeom>
          <a:solidFill>
            <a:srgbClr val="21295C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960120" y="5074920"/>
            <a:ext cx="10287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WAPE </a:t>
            </a:r>
            <a:r>
              <a:rPr lang="en-US" sz="13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(Weighted Absolute Percentage Error) measures average forecast error as a share of total demand.  </a:t>
            </a:r>
            <a:r>
              <a:rPr lang="en-US" sz="1300" b="1" dirty="0">
                <a:solidFill>
                  <a:srgbClr val="5F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</a:t>
            </a:r>
            <a:r>
              <a:rPr lang="en-US" sz="13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(Root Mean Squared Error) penalizes larger misses more heavily — both are lower-is-better.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Impact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metrics across the current SKU catalog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03708" y="219456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1A2249"/>
          </a:solidFill>
          <a:ln w="12700">
            <a:solidFill>
              <a:srgbClr val="3242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624432" y="2514600"/>
            <a:ext cx="164592" cy="164592"/>
          </a:xfrm>
          <a:prstGeom prst="ellipse">
            <a:avLst/>
          </a:prstGeom>
          <a:solidFill>
            <a:srgbClr val="5FD1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03708" y="29718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3,922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03708" y="40690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SKUS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29788" y="219456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1A2249"/>
          </a:solidFill>
          <a:ln w="12700">
            <a:solidFill>
              <a:srgbClr val="3242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50512" y="2514600"/>
            <a:ext cx="164592" cy="164592"/>
          </a:xfrm>
          <a:prstGeom prst="ellipse">
            <a:avLst/>
          </a:prstGeom>
          <a:solidFill>
            <a:srgbClr val="C94C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29788" y="29718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136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329788" y="40690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 RISK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55868" y="219456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1A2249"/>
          </a:solidFill>
          <a:ln w="12700">
            <a:solidFill>
              <a:srgbClr val="3242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476592" y="2514600"/>
            <a:ext cx="164592" cy="164592"/>
          </a:xfrm>
          <a:prstGeom prst="ellipse">
            <a:avLst/>
          </a:prstGeom>
          <a:solidFill>
            <a:srgbClr val="F2C9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55868" y="29718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3,806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255868" y="40690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OVERSTOCK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81948" y="219456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1A2249"/>
          </a:solidFill>
          <a:ln w="12700">
            <a:solidFill>
              <a:srgbClr val="3242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402672" y="2514600"/>
            <a:ext cx="164592" cy="164592"/>
          </a:xfrm>
          <a:prstGeom prst="ellipse">
            <a:avLst/>
          </a:prstGeom>
          <a:solidFill>
            <a:srgbClr val="C94C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81948" y="29718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$91,424.46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181948" y="40690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AT RISK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03708" y="5212080"/>
            <a:ext cx="11384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3.5% of SKUs are at stockout risk, while 97% carry overstock — highlighting where reorder and clearance actions should focus first.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Demo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r>
              <a:rPr lang="en-US" sz="15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dashboard</a:t>
            </a:r>
            <a:endParaRPr lang="en-US" sz="1500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E7BC7D-223B-0DD5-0FAF-44A98C92B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1026"/>
            <a:ext cx="10952480" cy="22220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729207-D9D0-179F-186E-A983A9C95E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183866"/>
            <a:ext cx="10952480" cy="244369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2AD322-9A8E-C5ED-DC34-29EA4088F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52B0224-91CA-CACC-15E8-A59590EF8031}"/>
              </a:ext>
            </a:extLst>
          </p:cNvPr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Demo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BD880DD-61FE-BABD-AB59-478FFC6A05DD}"/>
              </a:ext>
            </a:extLst>
          </p:cNvPr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r>
              <a:rPr lang="en-US" sz="15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dashboard</a:t>
            </a:r>
            <a:endParaRPr lang="en-US" sz="15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1567F3-527C-F3F8-4596-3427E5787F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300" y="1691640"/>
            <a:ext cx="10821619" cy="3845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78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FA6EE8-6D5B-5C68-8437-FDACDAAD8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AEAF278-F0CC-DCD8-911F-8471B94EFECD}"/>
              </a:ext>
            </a:extLst>
          </p:cNvPr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Demo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2E1182C-919E-C5BB-EA48-D3C18CC2AB2B}"/>
              </a:ext>
            </a:extLst>
          </p:cNvPr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r>
              <a:rPr lang="en-US" sz="15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dashboard</a:t>
            </a:r>
            <a:endParaRPr lang="en-US" sz="150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3CD918-5396-7FC6-BEF3-3677037C8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680" y="1614782"/>
            <a:ext cx="11023600" cy="4513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331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72D1DC-EE57-066F-4E92-ADA4FBF7A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6A3DD97-0CC8-35A5-B154-4A74E95BB721}"/>
              </a:ext>
            </a:extLst>
          </p:cNvPr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Demo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639CC66-58A7-AD2A-2EC7-586B862AD418}"/>
              </a:ext>
            </a:extLst>
          </p:cNvPr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r>
              <a:rPr lang="en-US" sz="15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dashboard</a:t>
            </a:r>
            <a:endParaRPr lang="en-US" sz="15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849439-4B2C-342C-D4DA-01E4F3C8A5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91640"/>
            <a:ext cx="11125200" cy="445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9307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123F9D-2F1A-84BE-EB02-CDE06D2AB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F6D4961-2954-4C8D-DAB2-0C800B9D5C6E}"/>
              </a:ext>
            </a:extLst>
          </p:cNvPr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Demo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AD49DDC-7656-EA25-6B0C-38AF5631F6F5}"/>
              </a:ext>
            </a:extLst>
          </p:cNvPr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r>
              <a:rPr lang="en-US" sz="15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dashboard</a:t>
            </a:r>
            <a:endParaRPr lang="en-US" sz="150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03CDE4-A26E-8C45-D263-514CB83E3C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31886"/>
            <a:ext cx="11033760" cy="481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281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735BD7-595E-1418-85E2-69F8D8377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1DDBB80-B715-950F-7069-87163CA20F4C}"/>
              </a:ext>
            </a:extLst>
          </p:cNvPr>
          <p:cNvSpPr/>
          <p:nvPr/>
        </p:nvSpPr>
        <p:spPr>
          <a:xfrm>
            <a:off x="640079" y="457200"/>
            <a:ext cx="858343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Demo – Forecasting Example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21A4E3B-8F2A-54AF-C89B-16DC5F28ADEF}"/>
              </a:ext>
            </a:extLst>
          </p:cNvPr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r>
              <a:rPr lang="en-US" sz="15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dashboard</a:t>
            </a:r>
            <a:endParaRPr lang="en-US" sz="15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279D97-C013-0B82-10D0-E3AD7D4FB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60" y="1606813"/>
            <a:ext cx="10957560" cy="4910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3083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forecasts into inventory action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08792" cy="1051560"/>
          </a:xfrm>
          <a:prstGeom prst="roundRect">
            <a:avLst>
              <a:gd name="adj" fmla="val 8696"/>
            </a:avLst>
          </a:prstGeom>
          <a:solidFill>
            <a:srgbClr val="F4F7F9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" y="1988820"/>
            <a:ext cx="640080" cy="640080"/>
          </a:xfrm>
          <a:prstGeom prst="ellipse">
            <a:avLst/>
          </a:prstGeom>
          <a:solidFill>
            <a:srgbClr val="C94C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19888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0" y="19476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Prioritize Reorders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235000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first on products flagged with stockout risk to protect sales.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090672"/>
            <a:ext cx="10908792" cy="1051560"/>
          </a:xfrm>
          <a:prstGeom prst="roundRect">
            <a:avLst>
              <a:gd name="adj" fmla="val 8696"/>
            </a:avLst>
          </a:prstGeom>
          <a:solidFill>
            <a:srgbClr val="F4F7F9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60120" y="3296412"/>
            <a:ext cx="640080" cy="640080"/>
          </a:xfrm>
          <a:prstGeom prst="ellipse">
            <a:avLst/>
          </a:prstGeom>
          <a:solidFill>
            <a:srgbClr val="F2C9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0120" y="32964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828800" y="325526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 Excess Inventory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28800" y="365760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clearance actions on overstocked SKUs to free up capital.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398264"/>
            <a:ext cx="10908792" cy="1051560"/>
          </a:xfrm>
          <a:prstGeom prst="roundRect">
            <a:avLst>
              <a:gd name="adj" fmla="val 8696"/>
            </a:avLst>
          </a:prstGeom>
          <a:solidFill>
            <a:srgbClr val="F4F7F9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60120" y="4604004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60120" y="46040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828800" y="456285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with Forecasts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828800" y="4965192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demand forecasts as the basis for ongoing inventory planning.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705856"/>
            <a:ext cx="10908792" cy="1051560"/>
          </a:xfrm>
          <a:prstGeom prst="roundRect">
            <a:avLst>
              <a:gd name="adj" fmla="val 8696"/>
            </a:avLst>
          </a:prstGeom>
          <a:solidFill>
            <a:srgbClr val="F4F7F9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60120" y="5911596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60120" y="59115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828800" y="58704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 Performance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828800" y="6272784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WAPE and RMSE regularly to catch model drift early.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2E13B4DF-A016-9062-9E84-562EF7433792}"/>
              </a:ext>
            </a:extLst>
          </p:cNvPr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554284-738C-ACEA-99EA-1EFCB35D295D}"/>
              </a:ext>
            </a:extLst>
          </p:cNvPr>
          <p:cNvSpPr txBox="1"/>
          <p:nvPr/>
        </p:nvSpPr>
        <p:spPr>
          <a:xfrm>
            <a:off x="793214" y="1817783"/>
            <a:ext cx="10377890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GitHub Repository Link : </a:t>
            </a:r>
            <a:r>
              <a:rPr lang="en-US" sz="2500" dirty="0">
                <a:hlinkClick r:id="rId2"/>
              </a:rPr>
              <a:t>https://github.com/DLS-Nadavi/Zidio-Development_Project-01_foresight-demand-inventory-intelligence.git</a:t>
            </a:r>
            <a:r>
              <a:rPr lang="en-US" sz="2500" dirty="0"/>
              <a:t> </a:t>
            </a:r>
            <a:br>
              <a:rPr lang="en-US" sz="2500" dirty="0"/>
            </a:br>
            <a:br>
              <a:rPr lang="en-US" sz="2500" dirty="0"/>
            </a:br>
            <a:r>
              <a:rPr lang="en-US" sz="2500" dirty="0" err="1"/>
              <a:t>Streamlit</a:t>
            </a:r>
            <a:r>
              <a:rPr lang="en-US" sz="2500" dirty="0"/>
              <a:t> App Link : </a:t>
            </a:r>
            <a:r>
              <a:rPr lang="en-US" sz="2500" dirty="0">
                <a:hlinkClick r:id="rId3"/>
              </a:rPr>
              <a:t>https://zidio-developmentproject-01foresight-demand-inventory-intellig.streamlit.app/</a:t>
            </a:r>
            <a:r>
              <a:rPr lang="en-US" sz="2500" dirty="0"/>
              <a:t> </a:t>
            </a:r>
            <a:br>
              <a:rPr lang="en-US" sz="2500" dirty="0"/>
            </a:br>
            <a:br>
              <a:rPr lang="en-US" sz="2500" dirty="0"/>
            </a:br>
            <a:r>
              <a:rPr lang="en-US" sz="2800" dirty="0"/>
              <a:t>Used Dataset - </a:t>
            </a:r>
            <a:r>
              <a:rPr lang="en-US" sz="2800" dirty="0">
                <a:hlinkClick r:id="rId4"/>
              </a:rPr>
              <a:t>https://www.kaggle.com/datasets/cgrymn/online-retail-ii-uci-dataset?utm_source=chatgpt.com</a:t>
            </a:r>
            <a:r>
              <a:rPr lang="en-US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895703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2A421-12AF-8586-637F-F16EB7A7B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7644FF3-16F7-C086-C01F-2F0B8513C0F5}"/>
              </a:ext>
            </a:extLst>
          </p:cNvPr>
          <p:cNvSpPr txBox="1"/>
          <p:nvPr/>
        </p:nvSpPr>
        <p:spPr>
          <a:xfrm>
            <a:off x="793214" y="1817783"/>
            <a:ext cx="1037789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dirty="0">
                <a:solidFill>
                  <a:srgbClr val="002060"/>
                </a:solidFill>
              </a:rPr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1365552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604</Words>
  <Application>Microsoft Office PowerPoint</Application>
  <PresentationFormat>Widescreen</PresentationFormat>
  <Paragraphs>132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DLS Nadavi</cp:lastModifiedBy>
  <cp:revision>8</cp:revision>
  <dcterms:created xsi:type="dcterms:W3CDTF">2026-08-06T18:18:05Z</dcterms:created>
  <dcterms:modified xsi:type="dcterms:W3CDTF">2026-08-07T18:06:22Z</dcterms:modified>
</cp:coreProperties>
</file>